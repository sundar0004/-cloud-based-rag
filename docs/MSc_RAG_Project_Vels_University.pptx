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Design and Experimental Evaluation of a Cloud-Based RAG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Reducing Hallucination in Large Language Models</a:t>
            </a:r>
          </a:p>
          <a:p>
            <a:r>
              <a:t>MSc Final Year Project | Vels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Presenter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Student Name: Sundar A</a:t>
            </a:r>
          </a:p>
          <a:p>
            <a:pPr>
              <a:defRPr sz="2200"/>
            </a:pPr>
            <a:r>
              <a:t>College ID: 24207105</a:t>
            </a:r>
          </a:p>
          <a:p>
            <a:pPr>
              <a:defRPr sz="2200"/>
            </a:pPr>
            <a:r>
              <a:t>Department: MSc Computer Science</a:t>
            </a:r>
          </a:p>
          <a:p>
            <a:pPr>
              <a:defRPr sz="2200"/>
            </a:pPr>
            <a:r>
              <a:t>Institution: Vels University</a:t>
            </a:r>
          </a:p>
          <a:p>
            <a:pPr>
              <a:defRPr sz="2200"/>
            </a:pPr>
            <a:r>
              <a:t>Reference Name: Akila</a:t>
            </a:r>
          </a:p>
          <a:p>
            <a:pPr>
              <a:defRPr sz="2200"/>
            </a:pPr>
            <a:r>
              <a:t>Presentation Date: 2026-02-27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and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Email: sunadrsundar0004@gmail.com</a:t>
            </a:r>
          </a:p>
          <a:p>
            <a:pPr>
              <a:defRPr sz="2200"/>
            </a:pPr>
            <a:r>
              <a:t>Phone: 7904117804</a:t>
            </a:r>
          </a:p>
          <a:p>
            <a:pPr>
              <a:defRPr sz="2200"/>
            </a:pPr>
            <a:r>
              <a:t>GitHub Repository: https://github.com/sundar0004/-Cloud-Based-RAG.git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Problem and motivation</a:t>
            </a:r>
          </a:p>
          <a:p>
            <a:pPr>
              <a:defRPr sz="2200"/>
            </a:pPr>
            <a:r>
              <a:t>Research objectives and questions</a:t>
            </a:r>
          </a:p>
          <a:p>
            <a:pPr>
              <a:defRPr sz="2200"/>
            </a:pPr>
            <a:r>
              <a:t>System architecture and implementation</a:t>
            </a:r>
          </a:p>
          <a:p>
            <a:pPr>
              <a:defRPr sz="2200"/>
            </a:pPr>
            <a:r>
              <a:t>Experiments and evaluation metrics</a:t>
            </a:r>
          </a:p>
          <a:p>
            <a:pPr>
              <a:defRPr sz="2200"/>
            </a:pPr>
            <a:r>
              <a:t>Results, limitations, and future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LLMs can generate fluent but factually incorrect responses</a:t>
            </a:r>
          </a:p>
          <a:p>
            <a:pPr>
              <a:defRPr sz="2200"/>
            </a:pPr>
            <a:r>
              <a:t>Hallucination is a major blocker for enterprise adoption</a:t>
            </a:r>
          </a:p>
          <a:p>
            <a:pPr>
              <a:defRPr sz="2200"/>
            </a:pPr>
            <a:r>
              <a:t>Pure prompt engineering is often insufficient</a:t>
            </a:r>
          </a:p>
          <a:p>
            <a:pPr>
              <a:defRPr sz="2200"/>
            </a:pPr>
            <a:r>
              <a:t>Need retrieval-grounded generation for reliability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Aim and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Design a cloud-based RAG framework</a:t>
            </a:r>
          </a:p>
          <a:p>
            <a:pPr>
              <a:defRPr sz="2200"/>
            </a:pPr>
            <a:r>
              <a:t>Compare baseline LLM vs RAG-enhanced LLM</a:t>
            </a:r>
          </a:p>
          <a:p>
            <a:pPr>
              <a:defRPr sz="2200"/>
            </a:pPr>
            <a:r>
              <a:t>Measure factuality, hallucination, retrieval quality, and latency</a:t>
            </a:r>
          </a:p>
          <a:p>
            <a:pPr>
              <a:defRPr sz="2200"/>
            </a:pPr>
            <a:r>
              <a:t>Deliver a reproducible API + Docker deployment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RQ1: Does RAG reduce hallucination vs baseline LLM?</a:t>
            </a:r>
          </a:p>
          <a:p>
            <a:pPr>
              <a:defRPr sz="2200"/>
            </a:pPr>
            <a:r>
              <a:t>RQ2: What latency tradeoff does retrieval introduce?</a:t>
            </a:r>
          </a:p>
          <a:p>
            <a:pPr>
              <a:defRPr sz="2200"/>
            </a:pPr>
            <a:r>
              <a:t>RQ3: Which context settings improve answer quality most?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Foundation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Transformers: Attention Is All You Need (2017)</a:t>
            </a:r>
          </a:p>
          <a:p>
            <a:pPr>
              <a:defRPr sz="2200"/>
            </a:pPr>
            <a:r>
              <a:t>LLM scaling: GPT few-shot learning (2020)</a:t>
            </a:r>
          </a:p>
          <a:p>
            <a:pPr>
              <a:defRPr sz="2200"/>
            </a:pPr>
            <a:r>
              <a:t>RAG for knowledge-intensive tasks (2020)</a:t>
            </a:r>
          </a:p>
          <a:p>
            <a:pPr>
              <a:defRPr sz="2200"/>
            </a:pPr>
            <a:r>
              <a:t>Dense retrieval and vector search (DPR + FAISS)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Document collection (PDF/TXT/MD)</a:t>
            </a:r>
          </a:p>
          <a:p>
            <a:pPr>
              <a:defRPr sz="2200"/>
            </a:pPr>
            <a:r>
              <a:t>Text extraction and chunking</a:t>
            </a:r>
          </a:p>
          <a:p>
            <a:pPr>
              <a:defRPr sz="2200"/>
            </a:pPr>
            <a:r>
              <a:t>Embedding generation (Sentence Transformers)</a:t>
            </a:r>
          </a:p>
          <a:p>
            <a:pPr>
              <a:defRPr sz="2200"/>
            </a:pPr>
            <a:r>
              <a:t>FAISS indexing and top-k retrieval</a:t>
            </a:r>
          </a:p>
          <a:p>
            <a:pPr>
              <a:defRPr sz="2200"/>
            </a:pPr>
            <a:r>
              <a:t>Context injection and LLM answer generation</a:t>
            </a:r>
          </a:p>
          <a:p>
            <a:pPr>
              <a:defRPr sz="2200"/>
            </a:pPr>
            <a:r>
              <a:t>Evaluation and comparison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User -&gt; FastAPI API Layer</a:t>
            </a:r>
          </a:p>
          <a:p>
            <a:pPr>
              <a:defRPr sz="2200"/>
            </a:pPr>
            <a:r>
              <a:t>Query Encoder -&gt; FAISS Vector Search</a:t>
            </a:r>
          </a:p>
          <a:p>
            <a:pPr>
              <a:defRPr sz="2200"/>
            </a:pPr>
            <a:r>
              <a:t>Top-k Context Retrieval</a:t>
            </a:r>
          </a:p>
          <a:p>
            <a:pPr>
              <a:defRPr sz="2200"/>
            </a:pPr>
            <a:r>
              <a:t>Prompt Builder -&gt; LLM Generator</a:t>
            </a:r>
          </a:p>
          <a:p>
            <a:pPr>
              <a:defRPr sz="2200"/>
            </a:pPr>
            <a:r>
              <a:t>Evaluation Module -&gt; Response + Metrics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vs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486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Baseline LLM</a:t>
            </a:r>
          </a:p>
          <a:p>
            <a:pPr>
              <a:defRPr sz="2000"/>
            </a:pPr>
            <a:r>
              <a:t>Direct question to model</a:t>
            </a:r>
          </a:p>
          <a:p>
            <a:pPr>
              <a:defRPr sz="2000"/>
            </a:pPr>
            <a:r>
              <a:t>No external evidence grounding</a:t>
            </a:r>
          </a:p>
          <a:p>
            <a:pPr>
              <a:defRPr sz="2000"/>
            </a:pPr>
            <a:r>
              <a:t>Lower latency</a:t>
            </a:r>
          </a:p>
          <a:p>
            <a:pPr>
              <a:defRPr sz="2000"/>
            </a:pPr>
            <a:r>
              <a:t>Higher hallucination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486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RAG LLM</a:t>
            </a:r>
          </a:p>
          <a:p>
            <a:pPr>
              <a:defRPr sz="2000"/>
            </a:pPr>
            <a:r>
              <a:t>Retrieves relevant evidence</a:t>
            </a:r>
          </a:p>
          <a:p>
            <a:pPr>
              <a:defRPr sz="2000"/>
            </a:pPr>
            <a:r>
              <a:t>Context-grounded answer generation</a:t>
            </a:r>
          </a:p>
          <a:p>
            <a:pPr>
              <a:defRPr sz="2000"/>
            </a:pPr>
            <a:r>
              <a:t>Slight latency overhead</a:t>
            </a:r>
          </a:p>
          <a:p>
            <a:pPr>
              <a:defRPr sz="2000"/>
            </a:pPr>
            <a:r>
              <a:t>Better factual reliability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Python, FastAPI</a:t>
            </a:r>
          </a:p>
          <a:p>
            <a:pPr>
              <a:defRPr sz="2200"/>
            </a:pPr>
            <a:r>
              <a:t>Sentence Transformers (embeddings)</a:t>
            </a:r>
          </a:p>
          <a:p>
            <a:pPr>
              <a:defRPr sz="2200"/>
            </a:pPr>
            <a:r>
              <a:t>FAISS (vector database)</a:t>
            </a:r>
          </a:p>
          <a:p>
            <a:pPr>
              <a:defRPr sz="2200"/>
            </a:pPr>
            <a:r>
              <a:t>Transformers (generator model)</a:t>
            </a:r>
          </a:p>
          <a:p>
            <a:pPr>
              <a:defRPr sz="2200"/>
            </a:pPr>
            <a:r>
              <a:t>Docker + AWS EC2 / Azure VM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Execution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Current implementation uses local models only</a:t>
            </a:r>
          </a:p>
          <a:p>
            <a:pPr>
              <a:defRPr sz="2200"/>
            </a:pPr>
            <a:r>
              <a:t>No OpenAI API key is required for this submission</a:t>
            </a:r>
          </a:p>
          <a:p>
            <a:pPr>
              <a:defRPr sz="2200"/>
            </a:pPr>
            <a:r>
              <a:t>Offline mock mode is available for restricted environments</a:t>
            </a:r>
          </a:p>
          <a:p>
            <a:pPr>
              <a:defRPr sz="2200"/>
            </a:pPr>
            <a:r>
              <a:t>OpenAI integration can be added later as future scope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Experiment 1: Baseline LLM</a:t>
            </a:r>
          </a:p>
          <a:p>
            <a:pPr>
              <a:defRPr sz="2200"/>
            </a:pPr>
            <a:r>
              <a:t>Experiment 2: Basic RAG</a:t>
            </a:r>
          </a:p>
          <a:p>
            <a:pPr>
              <a:defRPr sz="2200"/>
            </a:pPr>
            <a:r>
              <a:t>Experiment 3: Optimized RAG</a:t>
            </a:r>
          </a:p>
          <a:p>
            <a:pPr>
              <a:defRPr sz="2200"/>
            </a:pPr>
            <a:r>
              <a:t>Compare quality and latency across all setups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Hallucination Rate (proxy)</a:t>
            </a:r>
          </a:p>
          <a:p>
            <a:pPr>
              <a:defRPr sz="2200"/>
            </a:pPr>
            <a:r>
              <a:t>Factual Accuracy (proxy)</a:t>
            </a:r>
          </a:p>
          <a:p>
            <a:pPr>
              <a:defRPr sz="2200"/>
            </a:pPr>
            <a:r>
              <a:t>Precision@K and Recall@K (retrieval quality)</a:t>
            </a:r>
          </a:p>
          <a:p>
            <a:pPr>
              <a:defRPr sz="2200"/>
            </a:pPr>
            <a:r>
              <a:t>Latency (ms) and computational cost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Document ingestion script</a:t>
            </a:r>
          </a:p>
          <a:p>
            <a:pPr>
              <a:defRPr sz="2200"/>
            </a:pPr>
            <a:r>
              <a:t>FAISS indexing pipeline</a:t>
            </a:r>
          </a:p>
          <a:p>
            <a:pPr>
              <a:defRPr sz="2200"/>
            </a:pPr>
            <a:r>
              <a:t>API endpoint for baseline and RAG queries</a:t>
            </a:r>
          </a:p>
          <a:p>
            <a:pPr>
              <a:defRPr sz="2200"/>
            </a:pPr>
            <a:r>
              <a:t>Experiment runner with JSON result output</a:t>
            </a:r>
          </a:p>
          <a:p>
            <a:pPr>
              <a:defRPr sz="2200"/>
            </a:pPr>
            <a:r>
              <a:t>Dockerized cloud deployment setup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 UI Screenshot</a:t>
            </a:r>
          </a:p>
        </p:txBody>
      </p:sp>
      <p:pic>
        <p:nvPicPr>
          <p:cNvPr id="3" name="Picture 2" descr="frontend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Figure: Web UI showing query input, answer output, and retrieved context.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Backend API Screenshot</a:t>
            </a:r>
          </a:p>
        </p:txBody>
      </p:sp>
      <p:pic>
        <p:nvPicPr>
          <p:cNvPr id="3" name="Picture 2" descr="backend_api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Figure: FastAPI Swagger docs for backend testing and endpoint validation.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Six-Month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Month 1: Fundamentals + literature review</a:t>
            </a:r>
          </a:p>
          <a:p>
            <a:pPr>
              <a:defRPr sz="2200"/>
            </a:pPr>
            <a:r>
              <a:t>Month 2: Ingestion and indexing</a:t>
            </a:r>
          </a:p>
          <a:p>
            <a:pPr>
              <a:defRPr sz="2200"/>
            </a:pPr>
            <a:r>
              <a:t>Month 3: Baseline + RAG implementation</a:t>
            </a:r>
          </a:p>
          <a:p>
            <a:pPr>
              <a:defRPr sz="2200"/>
            </a:pPr>
            <a:r>
              <a:t>Month 4: Evaluation module and tuning</a:t>
            </a:r>
          </a:p>
          <a:p>
            <a:pPr>
              <a:defRPr sz="2200"/>
            </a:pPr>
            <a:r>
              <a:t>Month 5: Cloud deployment and full testing</a:t>
            </a:r>
          </a:p>
          <a:p>
            <a:pPr>
              <a:defRPr sz="2200"/>
            </a:pPr>
            <a:r>
              <a:t>Month 6: Final experiments + dissertation + viva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and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Data quality risk -&gt; source validation</a:t>
            </a:r>
          </a:p>
          <a:p>
            <a:pPr>
              <a:defRPr sz="2200"/>
            </a:pPr>
            <a:r>
              <a:t>Model/runtime limits -&gt; lighter model fallback</a:t>
            </a:r>
          </a:p>
          <a:p>
            <a:pPr>
              <a:defRPr sz="2200"/>
            </a:pPr>
            <a:r>
              <a:t>Cloud security risk -&gt; least privilege and TLS</a:t>
            </a:r>
          </a:p>
          <a:p>
            <a:pPr>
              <a:defRPr sz="2200"/>
            </a:pPr>
            <a:r>
              <a:t>Schedule overrun -&gt; weekly milestone tracking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Measured reduction in hallucination with RAG</a:t>
            </a:r>
          </a:p>
          <a:p>
            <a:pPr>
              <a:defRPr sz="2200"/>
            </a:pPr>
            <a:r>
              <a:t>Improved factual grounding and answer trustworthiness</a:t>
            </a:r>
          </a:p>
          <a:p>
            <a:pPr>
              <a:defRPr sz="2200"/>
            </a:pPr>
            <a:r>
              <a:t>Reproducible academic and technical artifacts</a:t>
            </a:r>
          </a:p>
          <a:p>
            <a:pPr>
              <a:defRPr sz="2200"/>
            </a:pPr>
            <a:r>
              <a:t>Practical guidance for enterprise AI assistants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RAG is a practical method to improve factual reliability</a:t>
            </a:r>
          </a:p>
          <a:p>
            <a:pPr>
              <a:defRPr sz="2200"/>
            </a:pPr>
            <a:r>
              <a:t>This project combines engineering and experimental rigor</a:t>
            </a:r>
          </a:p>
          <a:p>
            <a:pPr>
              <a:defRPr sz="2200"/>
            </a:pPr>
            <a:r>
              <a:t>Framework is cloud-ready and reproducible</a:t>
            </a:r>
          </a:p>
          <a:p>
            <a:pPr>
              <a:defRPr sz="2200"/>
            </a:pPr>
            <a:r>
              <a:t>Future work: reranking, citation verification, human eval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Questions and Discussion</a:t>
            </a:r>
          </a:p>
          <a:p>
            <a:pPr>
              <a:defRPr sz="2200"/>
            </a:pPr>
            <a:r>
              <a:t>Supervisor Feedback Welcome</a:t>
            </a:r>
          </a:p>
          <a:p>
            <a:pPr>
              <a:defRPr sz="2200"/>
            </a:pPr>
            <a:r>
              <a:t>Vels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