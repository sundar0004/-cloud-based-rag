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2C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1554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88136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Design and Experimental Evaluation of a Cloud-Based RAG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D7E4FF"/>
                </a:solidFill>
              </a:defRPr>
            </a:pPr>
            <a:r>
              <a:t>Reducing Hallucination in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MSc Final Year Project | Vels University | 2026-02-27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005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Presenter Details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14400"/>
            <a:ext cx="11155680" cy="5486400"/>
          </a:xfrm>
          <a:prstGeom prst="roundRect">
            <a:avLst/>
          </a:prstGeom>
          <a:solidFill>
            <a:srgbClr val="F7FAFF"/>
          </a:solidFill>
          <a:ln>
            <a:solidFill>
              <a:srgbClr val="C6D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280160"/>
            <a:ext cx="10424160" cy="4846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>
                <a:solidFill>
                  <a:srgbClr val="141E32"/>
                </a:solidFill>
              </a:defRPr>
            </a:pPr>
            <a:r>
              <a:t>• Student Name: Sundar A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College ID: 24207105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Department: MSc Computer Science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Reference Name: Akila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Email: sunadrsundar0004@gmail.com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Phone: 7904117804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GitHub Repository: https://github.com/sundar0004/-Cloud-Based-RAG.git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1267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Agenda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14400"/>
            <a:ext cx="11155680" cy="5486400"/>
          </a:xfrm>
          <a:prstGeom prst="roundRect">
            <a:avLst/>
          </a:prstGeom>
          <a:solidFill>
            <a:srgbClr val="F7FAFF"/>
          </a:solidFill>
          <a:ln>
            <a:solidFill>
              <a:srgbClr val="C6D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280160"/>
            <a:ext cx="10424160" cy="4846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>
                <a:solidFill>
                  <a:srgbClr val="141E32"/>
                </a:solidFill>
              </a:defRPr>
            </a:pPr>
            <a:r>
              <a:t>• Problem and motivation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Architecture and implementation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Experiment strategy and metrics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Timeline, risks, and references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Frontend and backend demonstration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Problem Statement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14400"/>
            <a:ext cx="11155680" cy="5486400"/>
          </a:xfrm>
          <a:prstGeom prst="roundRect">
            <a:avLst/>
          </a:prstGeom>
          <a:solidFill>
            <a:srgbClr val="F7FAFF"/>
          </a:solidFill>
          <a:ln>
            <a:solidFill>
              <a:srgbClr val="C6D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280160"/>
            <a:ext cx="10424160" cy="4846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>
                <a:solidFill>
                  <a:srgbClr val="141E32"/>
                </a:solidFill>
              </a:defRPr>
            </a:pPr>
            <a:r>
              <a:t>• LLMs can produce fluent but factually incorrect outputs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Hallucination limits enterprise trust and adoption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Need evidence-grounded generation from local documents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RAG is used to improve reliability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1453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Aim and Objectives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14400"/>
            <a:ext cx="11155680" cy="5486400"/>
          </a:xfrm>
          <a:prstGeom prst="roundRect">
            <a:avLst/>
          </a:prstGeom>
          <a:solidFill>
            <a:srgbClr val="F7FAFF"/>
          </a:solidFill>
          <a:ln>
            <a:solidFill>
              <a:srgbClr val="C6D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280160"/>
            <a:ext cx="10424160" cy="4846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>
                <a:solidFill>
                  <a:srgbClr val="141E32"/>
                </a:solidFill>
              </a:defRPr>
            </a:pPr>
            <a:r>
              <a:t>• Design a cloud-ready RAG framework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Compare baseline vs retrieval-augmented responses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Evaluate factuality, hallucination, retrieval quality, and latency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Build complete API + web UI + documentation package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924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Literature Foundation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14400"/>
            <a:ext cx="11155680" cy="5486400"/>
          </a:xfrm>
          <a:prstGeom prst="roundRect">
            <a:avLst/>
          </a:prstGeom>
          <a:solidFill>
            <a:srgbClr val="F7FAFF"/>
          </a:solidFill>
          <a:ln>
            <a:solidFill>
              <a:srgbClr val="C6D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280160"/>
            <a:ext cx="10424160" cy="4846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>
                <a:solidFill>
                  <a:srgbClr val="141E32"/>
                </a:solidFill>
              </a:defRPr>
            </a:pPr>
            <a:r>
              <a:t>• Transformers: Attention Is All You Need (2017)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Few-shot LLM behavior: Brown et al. (2020)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RAG: Lewis et al. (2020)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Dense retrieval + FAISS for scalable semantic search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082D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End-to-End Workflow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14400"/>
            <a:ext cx="11155680" cy="5486400"/>
          </a:xfrm>
          <a:prstGeom prst="roundRect">
            <a:avLst/>
          </a:prstGeom>
          <a:solidFill>
            <a:srgbClr val="F7FAFF"/>
          </a:solidFill>
          <a:ln>
            <a:solidFill>
              <a:srgbClr val="C6D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280160"/>
            <a:ext cx="10424160" cy="4846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>
                <a:solidFill>
                  <a:srgbClr val="141E32"/>
                </a:solidFill>
              </a:defRPr>
            </a:pPr>
            <a:r>
              <a:t>• Document collection (PDF/TXT/MD)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Text extraction, cleaning, and chunking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Embedding generation and FAISS indexing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Top-k retrieval + context injection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Local LLM answer generation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Evaluation and comparison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005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Complete Project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1645920" cy="822960"/>
          </a:xfrm>
          <a:prstGeom prst="roundRect">
            <a:avLst/>
          </a:prstGeom>
          <a:solidFill>
            <a:srgbClr val="E0F2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300" b="1">
                <a:solidFill>
                  <a:srgbClr val="141E32"/>
                </a:solidFill>
              </a:defRPr>
            </a:pPr>
            <a:r>
              <a:t>User / Web UI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1280160"/>
            <a:ext cx="1828800" cy="822960"/>
          </a:xfrm>
          <a:prstGeom prst="roundRect">
            <a:avLst/>
          </a:prstGeom>
          <a:solidFill>
            <a:srgbClr val="DBE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300" b="1">
                <a:solidFill>
                  <a:srgbClr val="141E32"/>
                </a:solidFill>
              </a:defRPr>
            </a:pPr>
            <a:r>
              <a:t>FastAPI</a:t>
            </a:r>
          </a:p>
          <a:p>
            <a:r>
              <a:t>Backend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1280160"/>
            <a:ext cx="1828800" cy="822960"/>
          </a:xfrm>
          <a:prstGeom prst="roundRect">
            <a:avLst/>
          </a:prstGeom>
          <a:solidFill>
            <a:srgbClr val="E0E7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300" b="1">
                <a:solidFill>
                  <a:srgbClr val="141E32"/>
                </a:solidFill>
              </a:defRPr>
            </a:pPr>
            <a:r>
              <a:t>Retriever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1280160"/>
            <a:ext cx="1828800" cy="822960"/>
          </a:xfrm>
          <a:prstGeom prst="roundRect">
            <a:avLst/>
          </a:prstGeom>
          <a:solidFill>
            <a:srgbClr val="E2E8F0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300" b="1">
                <a:solidFill>
                  <a:srgbClr val="141E32"/>
                </a:solidFill>
              </a:defRPr>
            </a:pPr>
            <a:r>
              <a:t>FAISS</a:t>
            </a:r>
          </a:p>
          <a:p>
            <a:r>
              <a:t>Vector DB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0" y="1280160"/>
            <a:ext cx="2103120" cy="822960"/>
          </a:xfrm>
          <a:prstGeom prst="roundRect">
            <a:avLst/>
          </a:prstGeom>
          <a:solidFill>
            <a:srgbClr val="DCFCE7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300" b="1">
                <a:solidFill>
                  <a:srgbClr val="141E32"/>
                </a:solidFill>
              </a:defRPr>
            </a:pPr>
            <a:r>
              <a:t>Local LLM</a:t>
            </a:r>
          </a:p>
          <a:p>
            <a:r>
              <a:t>Generator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840480"/>
            <a:ext cx="2103120" cy="822960"/>
          </a:xfrm>
          <a:prstGeom prst="roundRect">
            <a:avLst/>
          </a:prstGeom>
          <a:solidFill>
            <a:srgbClr val="FEF3C7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300" b="1">
                <a:solidFill>
                  <a:srgbClr val="141E32"/>
                </a:solidFill>
              </a:defRPr>
            </a:pPr>
            <a:r>
              <a:t>Document</a:t>
            </a:r>
          </a:p>
          <a:p>
            <a:r>
              <a:t>Ingestion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3840480"/>
            <a:ext cx="2103120" cy="822960"/>
          </a:xfrm>
          <a:prstGeom prst="roundRect">
            <a:avLst/>
          </a:prstGeom>
          <a:solidFill>
            <a:srgbClr val="FEF08A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300" b="1">
                <a:solidFill>
                  <a:srgbClr val="141E32"/>
                </a:solidFill>
              </a:defRPr>
            </a:pPr>
            <a:r>
              <a:t>Embeddings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49440" y="3840480"/>
            <a:ext cx="2103120" cy="822960"/>
          </a:xfrm>
          <a:prstGeom prst="roundRect">
            <a:avLst/>
          </a:prstGeom>
          <a:solidFill>
            <a:srgbClr val="FEE2E2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300" b="1">
                <a:solidFill>
                  <a:srgbClr val="141E32"/>
                </a:solidFill>
              </a:defRPr>
            </a:pPr>
            <a:r>
              <a:t>Chunk Metadata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194560" y="1691640"/>
            <a:ext cx="36576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389120" y="1691640"/>
            <a:ext cx="36576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583680" y="1691640"/>
            <a:ext cx="36576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778240" y="1691640"/>
            <a:ext cx="36576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931920" y="4251960"/>
            <a:ext cx="45720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492240" y="4251960"/>
            <a:ext cx="45720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5486400" y="2103120"/>
            <a:ext cx="2103120" cy="173736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0080" y="521208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/>
            </a:pPr>
            <a:r>
              <a:t>Flow: Documents -&gt; Ingestion -&gt; Embeddings -&gt; FAISS -&gt; Retrieval -&gt; Context Injection -&gt; Local LLM -&gt; Answer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1267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Baseline vs RAG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05840"/>
            <a:ext cx="5577840" cy="539496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126480" y="1005840"/>
            <a:ext cx="5577840" cy="5394960"/>
          </a:xfrm>
          <a:prstGeom prst="roundRect">
            <a:avLst/>
          </a:prstGeom>
          <a:solidFill>
            <a:srgbClr val="ECFDF5"/>
          </a:solidFill>
          <a:ln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5029200" cy="4846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Baseline LLM</a:t>
            </a:r>
          </a:p>
          <a:p>
            <a:pPr>
              <a:defRPr sz="1900"/>
            </a:pPr>
            <a:r>
              <a:t>• Direct answer generation</a:t>
            </a:r>
          </a:p>
          <a:p>
            <a:pPr>
              <a:defRPr sz="1900"/>
            </a:pPr>
            <a:r>
              <a:t>• No external evidence grounding</a:t>
            </a:r>
          </a:p>
          <a:p>
            <a:pPr>
              <a:defRPr sz="1900"/>
            </a:pPr>
            <a:r>
              <a:t>• Lower latency</a:t>
            </a:r>
          </a:p>
          <a:p>
            <a:pPr>
              <a:defRPr sz="1900"/>
            </a:pPr>
            <a:r>
              <a:t>• Higher hallucination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34440"/>
            <a:ext cx="5029200" cy="4846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RAG LLM</a:t>
            </a:r>
          </a:p>
          <a:p>
            <a:pPr>
              <a:defRPr sz="1900"/>
            </a:pPr>
            <a:r>
              <a:t>• Retrieves top-k evidence</a:t>
            </a:r>
          </a:p>
          <a:p>
            <a:pPr>
              <a:defRPr sz="1900"/>
            </a:pPr>
            <a:r>
              <a:t>• Grounded prompt construction</a:t>
            </a:r>
          </a:p>
          <a:p>
            <a:pPr>
              <a:defRPr sz="1900"/>
            </a:pPr>
            <a:r>
              <a:t>• Improved factual reliability</a:t>
            </a:r>
          </a:p>
          <a:p>
            <a:pPr>
              <a:defRPr sz="1900"/>
            </a:pPr>
            <a:r>
              <a:t>• Slight latency overhead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Technology Stack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14400"/>
            <a:ext cx="11155680" cy="5486400"/>
          </a:xfrm>
          <a:prstGeom prst="roundRect">
            <a:avLst/>
          </a:prstGeom>
          <a:solidFill>
            <a:srgbClr val="F7FAFF"/>
          </a:solidFill>
          <a:ln>
            <a:solidFill>
              <a:srgbClr val="C6D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280160"/>
            <a:ext cx="10424160" cy="4846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>
                <a:solidFill>
                  <a:srgbClr val="141E32"/>
                </a:solidFill>
              </a:defRPr>
            </a:pPr>
            <a:r>
              <a:t>• Python, FastAPI, Pydantic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Sentence Transformers + Transformers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FAISS vector search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Docker for cloud deployment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Frontend: HTML/CSS/JavaScript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1453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Implementation Modules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14400"/>
            <a:ext cx="11155680" cy="5486400"/>
          </a:xfrm>
          <a:prstGeom prst="roundRect">
            <a:avLst/>
          </a:prstGeom>
          <a:solidFill>
            <a:srgbClr val="F7FAFF"/>
          </a:solidFill>
          <a:ln>
            <a:solidFill>
              <a:srgbClr val="C6D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280160"/>
            <a:ext cx="10424160" cy="4846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>
                <a:solidFill>
                  <a:srgbClr val="141E32"/>
                </a:solidFill>
              </a:defRPr>
            </a:pPr>
            <a:r>
              <a:t>• src/ingestion.py: corpus ingestion and index build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src/retrieval.py: semantic search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src/llm.py + src/rag_pipeline.py: response generation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src/main.py: API + UI routes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scripts/run_experiments.py: evaluation runner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924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API and UI Endpoints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14400"/>
            <a:ext cx="11155680" cy="5486400"/>
          </a:xfrm>
          <a:prstGeom prst="roundRect">
            <a:avLst/>
          </a:prstGeom>
          <a:solidFill>
            <a:srgbClr val="F7FAFF"/>
          </a:solidFill>
          <a:ln>
            <a:solidFill>
              <a:srgbClr val="C6D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280160"/>
            <a:ext cx="10424160" cy="4846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>
                <a:solidFill>
                  <a:srgbClr val="141E32"/>
                </a:solidFill>
              </a:defRPr>
            </a:pPr>
            <a:r>
              <a:t>• GET /health: service health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POST /ask: baseline or rag response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GET /: frontend interface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GET /docs: backend Swagger documentation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Response includes answer, latency, and retrieved chunks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082D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Experimental Strategy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14400"/>
            <a:ext cx="11155680" cy="5486400"/>
          </a:xfrm>
          <a:prstGeom prst="roundRect">
            <a:avLst/>
          </a:prstGeom>
          <a:solidFill>
            <a:srgbClr val="F7FAFF"/>
          </a:solidFill>
          <a:ln>
            <a:solidFill>
              <a:srgbClr val="C6D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280160"/>
            <a:ext cx="10424160" cy="4846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>
                <a:solidFill>
                  <a:srgbClr val="141E32"/>
                </a:solidFill>
              </a:defRPr>
            </a:pPr>
            <a:r>
              <a:t>• Experiment 1: Baseline LLM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Experiment 2: Basic RAG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Experiment 3: Optimized RAG settings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Run same question set across all conditions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Compare quality and latency tradeoffs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005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Evaluation Metrics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14400"/>
            <a:ext cx="11155680" cy="5486400"/>
          </a:xfrm>
          <a:prstGeom prst="roundRect">
            <a:avLst/>
          </a:prstGeom>
          <a:solidFill>
            <a:srgbClr val="F7FAFF"/>
          </a:solidFill>
          <a:ln>
            <a:solidFill>
              <a:srgbClr val="C6D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280160"/>
            <a:ext cx="10424160" cy="4846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>
                <a:solidFill>
                  <a:srgbClr val="141E32"/>
                </a:solidFill>
              </a:defRPr>
            </a:pPr>
            <a:r>
              <a:t>• Factual overlap proxy (higher is better)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Hallucination proxy (lower is better)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Precision@k and Recall@k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Latency in milliseconds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Error-case analysis by question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1267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Expected Outcomes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14400"/>
            <a:ext cx="11155680" cy="5486400"/>
          </a:xfrm>
          <a:prstGeom prst="roundRect">
            <a:avLst/>
          </a:prstGeom>
          <a:solidFill>
            <a:srgbClr val="F7FAFF"/>
          </a:solidFill>
          <a:ln>
            <a:solidFill>
              <a:srgbClr val="C6D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280160"/>
            <a:ext cx="10424160" cy="4846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>
                <a:solidFill>
                  <a:srgbClr val="141E32"/>
                </a:solidFill>
              </a:defRPr>
            </a:pPr>
            <a:r>
              <a:t>• RAG improves factual grounding over baseline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Hallucination risk reduced for document-based queries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Clear retrieval evidence supports trust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Cloud-deployable project with reproducible artifacts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Six-Month Timeline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14400"/>
            <a:ext cx="11155680" cy="5486400"/>
          </a:xfrm>
          <a:prstGeom prst="roundRect">
            <a:avLst/>
          </a:prstGeom>
          <a:solidFill>
            <a:srgbClr val="F7FAFF"/>
          </a:solidFill>
          <a:ln>
            <a:solidFill>
              <a:srgbClr val="C6D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280160"/>
            <a:ext cx="10424160" cy="4846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>
                <a:solidFill>
                  <a:srgbClr val="141E32"/>
                </a:solidFill>
              </a:defRPr>
            </a:pPr>
            <a:r>
              <a:t>• M1: Literature review and setup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M2: Ingestion and indexing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M3: Baseline + RAG implementation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M4: Evaluation module and tuning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M5: Cloud deployment and full testing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M6: Final report, PPT, and viva preparation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1453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Risks and Mitigation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14400"/>
            <a:ext cx="11155680" cy="5486400"/>
          </a:xfrm>
          <a:prstGeom prst="roundRect">
            <a:avLst/>
          </a:prstGeom>
          <a:solidFill>
            <a:srgbClr val="F7FAFF"/>
          </a:solidFill>
          <a:ln>
            <a:solidFill>
              <a:srgbClr val="C6D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280160"/>
            <a:ext cx="10424160" cy="4846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>
                <a:solidFill>
                  <a:srgbClr val="141E32"/>
                </a:solidFill>
              </a:defRPr>
            </a:pPr>
            <a:r>
              <a:t>• Data quality issues -&gt; source validation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Environment/network constraints -&gt; offline mock mode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Cloud security risk -&gt; TLS and least privilege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Schedule risk -&gt; weekly milestone tracking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924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References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14400"/>
            <a:ext cx="11155680" cy="5486400"/>
          </a:xfrm>
          <a:prstGeom prst="roundRect">
            <a:avLst/>
          </a:prstGeom>
          <a:solidFill>
            <a:srgbClr val="F7FAFF"/>
          </a:solidFill>
          <a:ln>
            <a:solidFill>
              <a:srgbClr val="C6D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280160"/>
            <a:ext cx="10424160" cy="4846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>
                <a:solidFill>
                  <a:srgbClr val="141E32"/>
                </a:solidFill>
              </a:defRPr>
            </a:pPr>
            <a:r>
              <a:t>• Vaswani et al. (2017) - Attention Is All You Need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Brown et al. (2020) - Language Models are Few-Shot Learners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Lewis et al. (2020) - Retrieval-Augmented Generation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Karpukhin et al. (2020) - Dense Passage Retrieval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FAISS docs: https://faiss.ai/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FastAPI docs: https://fastapi.tiangolo.com/</a:t>
            </a:r>
          </a:p>
          <a:p>
            <a:pPr>
              <a:defRPr sz="2300">
                <a:solidFill>
                  <a:srgbClr val="141E32"/>
                </a:solidFill>
              </a:defRPr>
            </a:pPr>
            <a:r>
              <a:t>• Repository: https://github.com/sundar0004/-Cloud-Based-RAG.git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082D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Frontend UI Screenshot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68680"/>
            <a:ext cx="11247120" cy="54406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rontend_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1069848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126480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34155"/>
                </a:solidFill>
              </a:defRPr>
            </a:pPr>
            <a:r>
              <a:t>Figure: Frontend interface for query input, answer output, and retrieved context.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005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Backend API Screenshot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68680"/>
            <a:ext cx="11247120" cy="54406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ackend_api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1069848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126480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34155"/>
                </a:solidFill>
              </a:defRPr>
            </a:pPr>
            <a:r>
              <a:t>Figure: FastAPI Swagger documentation for backend endpoint testing.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